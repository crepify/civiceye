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iviceye-pied.vercel.app" TargetMode="External"/><Relationship Id="rId3" Type="http://schemas.openxmlformats.org/officeDocument/2006/relationships/hyperlink" Target="https://civiceye-pied.vercel.app/amrita" TargetMode="External"/><Relationship Id="rId4" Type="http://schemas.openxmlformats.org/officeDocument/2006/relationships/hyperlink" Target="mailto:civiceyeoffcial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320040" cy="4480560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7772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Segoe UI"/>
              </a:rPr>
              <a:t>CIVICEYE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06B6D4"/>
                </a:solidFill>
                <a:latin typeface="Segoe UI"/>
              </a:rPr>
              <a:t>making streets safer — one report at a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FDBEA"/>
                </a:solidFill>
                <a:latin typeface="Segoe UI"/>
              </a:rPr>
              <a:t>A citizens’ reporting engine for potholes, broken lights, leaks &amp; more — that routes every issue to the exact authority (or the road’s contractor!) who can fix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114800"/>
            <a:ext cx="2926080" cy="822960"/>
          </a:xfrm>
          <a:prstGeom prst="roundRect">
            <a:avLst>
              <a:gd name="adj" fmla="val 5000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START THE STORY 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8521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College presentation ·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585216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Fully clickable deck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585216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Built by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0F172A"/>
                </a:solidFill>
                <a:latin typeface="Segoe UI"/>
              </a:rPr>
              <a:t>THE STORY IN 8 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475569"/>
                </a:solidFill>
                <a:latin typeface="Segoe UI"/>
              </a:rPr>
              <a:t>Use the arrows to walk through — every scene is one click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28016" cy="155448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677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01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Potholes are a killer — the newspaper clips prove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210312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79" y="2103120"/>
            <a:ext cx="128016" cy="15544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7" y="22677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02  The toll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7889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9,438 lives lost to potholes in 5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128016" cy="15544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22677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03  Why it happens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889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Warranties nobody knows about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10312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19" y="2103120"/>
            <a:ext cx="128016" cy="1554480"/>
          </a:xfrm>
          <a:prstGeom prst="rect">
            <a:avLst/>
          </a:prstGeom>
          <a:solidFill>
            <a:srgbClr val="9DE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22677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04  How CivicEye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78892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Report → AI → verify → fix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886200"/>
            <a:ext cx="128016" cy="1554480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050791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05  The AI inside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572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On-device + cloud vision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79" y="38862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79" y="3886200"/>
            <a:ext cx="128016" cy="155448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4487" y="4050791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06 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4487" y="4572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SOS for anyone in danger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862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886200"/>
            <a:ext cx="128016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4050791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07  We reach the fixer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4572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Authorities &amp; road contractors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19" y="38862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19" y="3886200"/>
            <a:ext cx="128016" cy="15544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4050791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08  Try it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45720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Open the real product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81360" y="603504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2B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THE NEWSPAPERS ALREADY TOLD THIS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E8D5D5"/>
                </a:solidFill>
                <a:latin typeface="Segoe UI"/>
              </a:rPr>
              <a:t>These aren’t one-off tragedies — they’re a national pattern.</a:t>
            </a:r>
          </a:p>
        </p:txBody>
      </p:sp>
      <p:pic>
        <p:nvPicPr>
          <p:cNvPr id="5" name="Picture 4" descr="cli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271211" cy="3246120"/>
          </a:xfrm>
          <a:prstGeom prst="rect">
            <a:avLst/>
          </a:prstGeom>
        </p:spPr>
      </p:pic>
      <p:pic>
        <p:nvPicPr>
          <p:cNvPr id="6" name="Picture 5" descr="cli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4271211" cy="3246120"/>
          </a:xfrm>
          <a:prstGeom prst="rect">
            <a:avLst/>
          </a:prstGeom>
        </p:spPr>
      </p:pic>
      <p:pic>
        <p:nvPicPr>
          <p:cNvPr id="7" name="Picture 6" descr="cli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783080"/>
            <a:ext cx="4271211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Every single clip describes a fixable failure — a road defect that was reported, ignored, then fatal.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22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THE TOLL IS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E11D48"/>
                </a:solidFill>
                <a:latin typeface="Segoe UI"/>
              </a:rPr>
              <a:t>9,438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Segoe UI"/>
              </a:rPr>
              <a:t>lives lost to pothole accidents in India, 2020–2024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214884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B923C"/>
                </a:solidFill>
                <a:latin typeface="Segoe UI"/>
              </a:rPr>
              <a:t>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35661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Segoe UI"/>
              </a:rPr>
              <a:t>rise in pothole-linked crashes in five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06B6D4"/>
                </a:solidFill>
                <a:latin typeface="Segoe UI"/>
              </a:rPr>
              <a:t>2,385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Segoe UI"/>
              </a:rPr>
              <a:t>deaths in 2024 alone — still climbing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214884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E879F9"/>
                </a:solidFill>
                <a:latin typeface="Segoe UI"/>
              </a:rPr>
              <a:t>≈1.7L+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356616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Segoe UI"/>
              </a:rPr>
              <a:t>total road deaths every single year (MoRTH)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EACFCF"/>
                </a:solidFill>
                <a:latin typeface="Segoe UI"/>
              </a:rPr>
              <a:t>Behind every statistic is a person — many of them young riders on their way to work or college.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F6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WHY DOES THIS KEEP HAPPENING?</a:t>
            </a:r>
          </a:p>
        </p:txBody>
      </p:sp>
      <p:pic>
        <p:nvPicPr>
          <p:cNvPr id="5" name="Picture 4" descr="cli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609474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603504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Segoe UI"/>
              </a:rPr>
              <a:t>The broken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103120"/>
            <a:ext cx="5486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▸  1. A citizen spots a pothole and files a complaint…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▸  2. …to a helpline that never confirms receipt…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▸  3. …the ward has no visibility of the backlog…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▸  4. …and even when the road is under a contractor’s warranty, nobody checks who must pay for the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48920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11D48"/>
                </a:solidFill>
                <a:latin typeface="Segoe UI"/>
              </a:rPr>
              <a:t>Result: months of silence, then an accident — the same pothole, still unfixed.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122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ROADS HAVE WARRANTIES. NOBODY USES THEM.</a:t>
            </a:r>
          </a:p>
        </p:txBody>
      </p:sp>
      <p:pic>
        <p:nvPicPr>
          <p:cNvPr id="7" name="Picture 6" descr="cli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692316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egoe UI"/>
              </a:rPr>
              <a:t>The DLP rule (real)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663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✔  When a road is re-laid, the contractor keeps a defect-liability warranty (often 3–5 years).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✔  If it fails in that window, the contractor — not the taxpayer — must fix it.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✔  But citizens (and even ward offices) rarely know who built the road.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475569"/>
                </a:solidFill>
                <a:latin typeface="Segoe UI"/>
              </a:rPr>
              <a:t>✔  Inspired by Gaurav Sen’s dash-cam idea: detect potholes on video, then automatically complain to the road’s contractor.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2578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6B2E"/>
                </a:solidFill>
                <a:latin typeface="Segoe UI"/>
              </a:rPr>
              <a:t>CivicEye does exactly this — we pair every report to the contractor under warranty.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HOW CIVICEYE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011680" cy="3108960"/>
          </a:xfrm>
          <a:prstGeom prst="roundRect">
            <a:avLst/>
          </a:prstGeom>
          <a:solidFill>
            <a:srgbClr val="18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7" y="2148840"/>
            <a:ext cx="868680" cy="8686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2258568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Report in 60s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977639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DCADE"/>
                </a:solidFill>
                <a:latin typeface="Segoe UI"/>
              </a:rPr>
              <a:t>Snap a photo &amp; pin the spot. Works on phone, web &amp; QR.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828800"/>
            <a:ext cx="2011680" cy="3108960"/>
          </a:xfrm>
          <a:prstGeom prst="roundRect">
            <a:avLst/>
          </a:prstGeom>
          <a:solidFill>
            <a:srgbClr val="18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47288" y="2148840"/>
            <a:ext cx="868680" cy="86868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258568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2461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AI reads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3977639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DCADE"/>
                </a:solidFill>
                <a:latin typeface="Segoe UI"/>
              </a:rPr>
              <a:t>On-device + cloud vision detect the category &amp; severity.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2011680" cy="3108960"/>
          </a:xfrm>
          <a:prstGeom prst="roundRect">
            <a:avLst/>
          </a:prstGeom>
          <a:solidFill>
            <a:srgbClr val="18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2148840"/>
            <a:ext cx="868680" cy="868680"/>
          </a:xfrm>
          <a:prstGeom prst="ellipse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2258568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2461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Community verifies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977639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DCADE"/>
                </a:solidFill>
                <a:latin typeface="Segoe UI"/>
              </a:rPr>
              <a:t>Neighbours confirm — a single fake report dies fast.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828800"/>
            <a:ext cx="2011680" cy="3108960"/>
          </a:xfrm>
          <a:prstGeom prst="roundRect">
            <a:avLst/>
          </a:prstGeom>
          <a:solidFill>
            <a:srgbClr val="18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7848" y="2148840"/>
            <a:ext cx="868680" cy="868680"/>
          </a:xfrm>
          <a:prstGeom prst="ellipse">
            <a:avLst/>
          </a:prstGeom>
          <a:solidFill>
            <a:srgbClr val="9DE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258568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2461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Auto-routed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3977639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DCADE"/>
                </a:solidFill>
                <a:latin typeface="Segoe UI"/>
              </a:rPr>
              <a:t>We find the owning authority AND the contractor under warranty.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828800"/>
            <a:ext cx="2011680" cy="3108960"/>
          </a:xfrm>
          <a:prstGeom prst="roundRect">
            <a:avLst/>
          </a:prstGeom>
          <a:solidFill>
            <a:srgbClr val="18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68128" y="2148840"/>
            <a:ext cx="868680" cy="86868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8128" y="2258568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72A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32461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Fixed &amp; closed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977639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DCADE"/>
                </a:solidFill>
                <a:latin typeface="Segoe UI"/>
              </a:rPr>
              <a:t>Status goes pending → verified → in progress → resolved — publicly.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06B6D4"/>
                </a:solidFill>
                <a:latin typeface="Segoe UI"/>
              </a:rPr>
              <a:t>Every step is public — the whole street can watch a complaint get fixed.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1A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THE AI ENGINE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9BFD6"/>
                </a:solidFill>
                <a:latin typeface="Segoe UI"/>
              </a:rPr>
              <a:t>Real models, in order — each one is a fallback if the next isn’t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560320" cy="2651760"/>
          </a:xfrm>
          <a:prstGeom prst="roundRect">
            <a:avLst/>
          </a:prstGeom>
          <a:solidFill>
            <a:srgbClr val="2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On-device YOLO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C4DA"/>
                </a:solidFill>
                <a:latin typeface="Segoe UI"/>
              </a:rPr>
              <a:t>pothole/garbage/manhole detected IN YOUR BROWSER — free &amp; 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20240"/>
            <a:ext cx="2560320" cy="2651760"/>
          </a:xfrm>
          <a:prstGeom prst="roundRect">
            <a:avLst/>
          </a:prstGeom>
          <a:solidFill>
            <a:srgbClr val="2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879F9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Roboflow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C4DA"/>
                </a:solidFill>
                <a:latin typeface="Segoe UI"/>
              </a:rPr>
              <a:t>trained civic detector for precision (primary cloud engine)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560320" cy="2651760"/>
          </a:xfrm>
          <a:prstGeom prst="roundRect">
            <a:avLst/>
          </a:prstGeom>
          <a:solidFill>
            <a:srgbClr val="2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Hugging 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C4DA"/>
                </a:solidFill>
                <a:latin typeface="Segoe UI"/>
              </a:rPr>
              <a:t>backup vision model if the cloud is 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920240"/>
            <a:ext cx="2560320" cy="2651760"/>
          </a:xfrm>
          <a:prstGeom prst="roundRect">
            <a:avLst/>
          </a:prstGeom>
          <a:solidFill>
            <a:srgbClr val="2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1945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DE047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7432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Smart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33832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FC4DA"/>
                </a:solidFill>
                <a:latin typeface="Segoe UI"/>
              </a:rPr>
              <a:t>the app never breaks — it always answers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10881360" cy="1097280"/>
          </a:xfrm>
          <a:prstGeom prst="roundRect">
            <a:avLst/>
          </a:prstGeom>
          <a:solidFill>
            <a:srgbClr val="16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9CFE6"/>
                </a:solidFill>
                <a:latin typeface="Segoe UI"/>
              </a:rPr>
              <a:t>Blurry photo? The AI says so and asks you to retake. Wrong guess? You can edit the category — your correction trains the next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2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57200"/>
            <a:ext cx="11430000" cy="1097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A SAFETY NET, NOT JUST 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2CFD5"/>
                </a:solidFill>
                <a:latin typeface="Segoe UI"/>
              </a:rPr>
              <a:t>A one-tap SOS is built into the app for anyone in danger. It captures GPS and raises a CRITICAL alert that the community and staff see instantly — plus it’s clearly labelled for authorities to act on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08813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⚠️  Requires a deliberate confirmation — an accidental tap can’t raise a false alarm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📍  Uses your live GPS so help knows exactly where you are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🚨  Creates a CRITICAL report visible to staff &amp; the community in real time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75569"/>
                </a:solidFill>
                <a:latin typeface="Segoe UI"/>
              </a:rPr>
              <a:t>📅  Never blocks the phone helplines — 112 always remains the fastest call for a live emergency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0B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WE REACH THE PERSON WHO CAN FIX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10896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Report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737360"/>
            <a:ext cx="484632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828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Owner (auto-matched)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59" y="1737360"/>
            <a:ext cx="292608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19" y="1828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Channel that actually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40280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368296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Pothole / broken road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240280"/>
            <a:ext cx="4846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23682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BBMP Ward / road contractor (if under warranty)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59" y="2240280"/>
            <a:ext cx="29260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7" y="23682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Samparka portal + WhatsApp + email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07208"/>
            <a:ext cx="310896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935224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Garbage / dumping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807208"/>
            <a:ext cx="484632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293522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BBMP Solid Waste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59" y="2807208"/>
            <a:ext cx="292608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7" y="29352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Samparka portal + helpline 1533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74136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02152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Water leak / sewage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374136"/>
            <a:ext cx="4846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5021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BWSSB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59" y="3374136"/>
            <a:ext cx="29260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7" y="35021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Helpline 19145 + portal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41064"/>
            <a:ext cx="310896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06908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Street light down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941064"/>
            <a:ext cx="484632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58768" y="4069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BESCOM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59" y="3941064"/>
            <a:ext cx="292608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05087" y="4069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Helpline 1912 +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507992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636007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Traffic signal / crash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4507992"/>
            <a:ext cx="48463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4636007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Bengaluru Traffic Police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59" y="4507992"/>
            <a:ext cx="29260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05087" y="463600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112 / 103 + portal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074920"/>
            <a:ext cx="310896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202936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Fallen tree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39" y="5074920"/>
            <a:ext cx="484632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58768" y="520293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BBMP Forest Cell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59" y="5074920"/>
            <a:ext cx="2926080" cy="566928"/>
          </a:xfrm>
          <a:prstGeom prst="rect">
            <a:avLst/>
          </a:prstGeom>
          <a:solidFill>
            <a:srgbClr val="E9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087" y="52029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Segoe UI"/>
              </a:rPr>
              <a:t>Helpline 1533 + portal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9DE355"/>
                </a:solidFill>
                <a:latin typeface="Segoe UI"/>
              </a:rPr>
              <a:t>Contractor warranty match = the claim goes to the builder, not the taxpayer.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1B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WHAT’S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46304" cy="7772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Live warranty 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4C9DD"/>
                </a:solidFill>
                <a:latin typeface="Segoe UI"/>
              </a:rPr>
              <a:t>map corridors → contractor + defect-liability end date; auto-claim before warranty expires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146304" cy="777240"/>
          </a:xfrm>
          <a:prstGeom prst="rect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Dash-cam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4C9DD"/>
                </a:solidFill>
                <a:latin typeface="Segoe UI"/>
              </a:rPr>
              <a:t>drive the street, AI flags potholes from video (the Gaurav Sen approach), app files the complaint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46304" cy="777240"/>
          </a:xfrm>
          <a:prstGeom prst="rect">
            <a:avLst/>
          </a:prstGeom>
          <a:solidFill>
            <a:srgbClr val="9DE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Public 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587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4C9DD"/>
                </a:solidFill>
                <a:latin typeface="Segoe UI"/>
              </a:rPr>
              <a:t>every ward shows open / fixed counts — citizens grade their own street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34840"/>
            <a:ext cx="146304" cy="777240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Train a sharper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1888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4C9DD"/>
                </a:solidFill>
                <a:latin typeface="Segoe UI"/>
              </a:rPr>
              <a:t>our own civic dataset — corrections from real users retrain the detector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94960"/>
            <a:ext cx="146304" cy="7772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94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On-ground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790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4C9DD"/>
                </a:solidFill>
                <a:latin typeface="Segoe UI"/>
              </a:rPr>
              <a:t>partner a BBMP ward + one campus for a real fix-the-street 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101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QUICK QUIZ — CLICK AN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9DE355"/>
                </a:solidFill>
                <a:latin typeface="Segoe UI"/>
              </a:rPr>
              <a:t>Most new city roads carry a contractor warranty of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834640"/>
            <a:ext cx="2743200" cy="1005840"/>
          </a:xfrm>
          <a:prstGeom prst="roundRect">
            <a:avLst>
              <a:gd name="adj" fmla="val 50000"/>
            </a:avLst>
          </a:prstGeom>
          <a:solidFill>
            <a:srgbClr val="5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834640"/>
            <a:ext cx="2743200" cy="1005840"/>
          </a:xfrm>
          <a:prstGeom prst="roundRect">
            <a:avLst>
              <a:gd name="adj" fmla="val 50000"/>
            </a:avLst>
          </a:prstGeom>
          <a:solidFill>
            <a:srgbClr val="0C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3–5 years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34640"/>
            <a:ext cx="2743200" cy="1005840"/>
          </a:xfrm>
          <a:prstGeom prst="roundRect">
            <a:avLst>
              <a:gd name="adj" fmla="val 50000"/>
            </a:avLst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10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✅  Answer: 3–5 years (the Defect Liability Period). If it fails in that window, the contractor must fix it — that’s the warranty CivicEye chases for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🎯  Why this matters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0B2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DON’T BELIEVE US — TRY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6B6D4"/>
                </a:solidFill>
                <a:latin typeface="Segoe UI"/>
              </a:rPr>
              <a:t>This deck is the story. The product is one click away: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943600" cy="1005840"/>
          </a:xfrm>
          <a:prstGeom prst="roundRect">
            <a:avLst>
              <a:gd name="adj" fmla="val 50000"/>
            </a:avLst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hlinkClick r:id="rId2"/>
              </a:rPr>
              <a:t>OPEN THE LIVE CIVICEYE APP 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943600" cy="822960"/>
          </a:xfrm>
          <a:prstGeom prst="roundRect">
            <a:avLst>
              <a:gd name="adj" fmla="val 50000"/>
            </a:avLst>
          </a:prstGeom>
          <a:solidFill>
            <a:srgbClr val="9DE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  <a:hlinkClick r:id="rId3"/>
              </a:rPr>
              <a:t>Try Amrita Eye (campus edition)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5943600" cy="82296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  <a:hlinkClick r:id="rId4"/>
              </a:rPr>
              <a:t>Email the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8346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Sign in with any email — report a pothole near you and watch it route to the authority.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223760"/>
          </a:xfrm>
          <a:prstGeom prst="rect">
            <a:avLst/>
          </a:prstGeom>
          <a:solidFill>
            <a:srgbClr val="141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A8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152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840480"/>
            <a:ext cx="3291840" cy="3291840"/>
          </a:xfrm>
          <a:prstGeom prst="ellipse">
            <a:avLst/>
          </a:prstGeom>
          <a:solidFill>
            <a:srgbClr val="E87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E879F9"/>
                </a:solidFill>
                <a:latin typeface="Segoe UI"/>
              </a:rPr>
              <a:t>Because a street should never decide who lives and who doesn’t.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06B6D4"/>
                </a:solidFill>
                <a:latin typeface="Segoe UI"/>
              </a:rPr>
              <a:t>civiceyeoffcial@gmail.com  ·  built by students for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←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