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0B11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4572000" cy="4572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0" y="1005840"/>
            <a:ext cx="1216152" cy="1216152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70448" y="1234440"/>
            <a:ext cx="45720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 i="0">
                <a:solidFill>
                  <a:srgbClr val="FFFFFF"/>
                </a:solidFill>
                <a:latin typeface="Segoe UI"/>
              </a:rPr>
              <a:t>CivicEye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0" i="0">
                <a:solidFill>
                  <a:srgbClr val="A5B4FC"/>
                </a:solidFill>
                <a:latin typeface="Segoe UI"/>
              </a:rPr>
              <a:t>/  Amrita Eye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89120"/>
            <a:ext cx="9418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1">
                <a:solidFill>
                  <a:srgbClr val="10B981"/>
                </a:solidFill>
                <a:latin typeface="Segoe UI"/>
              </a:rPr>
              <a:t>Making cities better, one report at a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2120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E2E8F0"/>
                </a:solidFill>
                <a:latin typeface="Segoe UI"/>
              </a:rPr>
              <a:t>A citizen-powered platform to report, visualise and fix civic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85216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4A3B8"/>
                </a:solidFill>
                <a:latin typeface="Segoe UI"/>
              </a:rPr>
              <a:t>Team · Course ·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128016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0B981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Segoe UI"/>
              </a:rPr>
              <a:t>Every city has the same story.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10332720" cy="1188720"/>
          </a:xfrm>
          <a:prstGeom prst="roundRect">
            <a:avLst>
              <a:gd name="adj" fmla="val 6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i="1">
                <a:solidFill>
                  <a:srgbClr val="A5B4FC"/>
                </a:solidFill>
                <a:latin typeface="Segoe UI"/>
              </a:rPr>
              <a:t>“Where are the potholes? Which streets go dark at night? Which junctions flood every monsoon?”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31920"/>
            <a:ext cx="128016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931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Scattered complaints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793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Segoe UI"/>
              </a:rPr>
              <a:t>Issues reported everywhere — helplines, apps, social media — with no single trusted source.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553712"/>
            <a:ext cx="128016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5537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Lost &amp; forgotten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90118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Segoe UI"/>
              </a:rPr>
              <a:t>Complaints get duplicated, lost, or never acted 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175504"/>
            <a:ext cx="128016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1755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Newcomers in the dark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52297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Segoe UI"/>
              </a:rPr>
              <a:t>Students &amp; new residents have no way to know what’s broken or dangerous.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797296"/>
            <a:ext cx="128016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79729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No verifiable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61447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Segoe UI"/>
              </a:rPr>
              <a:t>Authorities get noise instead of organised, trustworthy reports.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128016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5B4FC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CivicEye turns observations into verifiable, actionable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2148840" cy="3108960"/>
          </a:xfrm>
          <a:prstGeom prst="roundRect">
            <a:avLst>
              <a:gd name="adj" fmla="val 8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69748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E2E8F0"/>
                </a:solidFill>
                <a:latin typeface="Segoe UI"/>
              </a:rPr>
              <a:t>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783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Snap a 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783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Report potholes, broken lights, garbage, anything unsafe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6576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10B981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2468880"/>
            <a:ext cx="2148840" cy="3108960"/>
          </a:xfrm>
          <a:prstGeom prst="roundRect">
            <a:avLst>
              <a:gd name="adj" fmla="val 8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44952" y="26974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7432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E2E8F0"/>
                </a:solidFill>
                <a:latin typeface="Segoe UI"/>
              </a:rP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3383280"/>
            <a:ext cx="1783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Pin it on the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3931920"/>
            <a:ext cx="1783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GPS or manual pin, with campus auto-detection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5192" y="36576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10B981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75504" y="2468880"/>
            <a:ext cx="2148840" cy="3108960"/>
          </a:xfrm>
          <a:prstGeom prst="roundRect">
            <a:avLst>
              <a:gd name="adj" fmla="val 8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58384" y="269748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58384" y="27432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E2E8F0"/>
                </a:solidFill>
                <a:latin typeface="Segoe UI"/>
              </a:rPr>
              <a:t>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4" y="3383280"/>
            <a:ext cx="1783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AI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931920"/>
            <a:ext cx="1783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CivicLENS AI detects issue, confidence &amp; severity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624" y="36576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10B981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88936" y="2468880"/>
            <a:ext cx="2148840" cy="3108960"/>
          </a:xfrm>
          <a:prstGeom prst="roundRect">
            <a:avLst>
              <a:gd name="adj" fmla="val 8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71816" y="26974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71816" y="27432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E2E8F0"/>
                </a:solidFill>
                <a:latin typeface="Segoe UI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1816" y="3383280"/>
            <a:ext cx="1783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Community validates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71816" y="3931920"/>
            <a:ext cx="1783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Neighbours confirm; 3 confirms → Verified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92056" y="36576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10B981"/>
                </a:solidFill>
                <a:latin typeface="Segoe U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02368" y="2468880"/>
            <a:ext cx="2148840" cy="3108960"/>
          </a:xfrm>
          <a:prstGeom prst="roundRect">
            <a:avLst>
              <a:gd name="adj" fmla="val 8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85248" y="269748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85248" y="27432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E2E8F0"/>
                </a:solidFill>
                <a:latin typeface="Segoe UI"/>
              </a:rPr>
              <a:t>🏛️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85248" y="3383280"/>
            <a:ext cx="1783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Authorities 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85248" y="3931920"/>
            <a:ext cx="1783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Live dashboard — assign, fix, resolve, notify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0B981"/>
                </a:solidFill>
                <a:latin typeface="Segoe UI"/>
              </a:rPr>
              <a:t>One minute to report. One place for everything. Visible progress for all.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7F1D1D"/>
              </a:gs>
              <a:gs pos="100000">
                <a:srgbClr val="0B11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28016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9E0B"/>
                </a:solidFill>
                <a:latin typeface="Segoe UI"/>
              </a:rPr>
              <a:t>AMRITA EYE — CAMPUS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Keeping our campus safe, one report at a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🎓 Auto-activates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44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DBA74"/>
                </a:solidFill>
                <a:latin typeface="Segoe UI"/>
              </a:rPr>
              <a:t>for @amrita.edu students &amp; staff — any campus.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🛡️ Campus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13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DBA74"/>
                </a:solidFill>
                <a:latin typeface="Segoe UI"/>
              </a:rPr>
              <a:t>suspicious activity, water leaks, broken lights &amp; more.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🏢 Routed to campus offices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81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DBA74"/>
                </a:solidFill>
                <a:latin typeface="Segoe UI"/>
              </a:rPr>
              <a:t>Estate, Facilities, Security — the people who can 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663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🎨 Campus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504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DBA74"/>
                </a:solidFill>
                <a:latin typeface="Segoe UI"/>
              </a:rPr>
              <a:t>red &amp; gold theme, campus-scoped map, dedicated favicon.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377440"/>
            <a:ext cx="3291840" cy="3566160"/>
          </a:xfrm>
          <a:prstGeom prst="roundRect">
            <a:avLst>
              <a:gd name="adj" fmla="val 6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ive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14600"/>
            <a:ext cx="3017520" cy="1920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66760" y="45262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E2E8F0"/>
                </a:solidFill>
                <a:latin typeface="Segoe UI"/>
              </a:rPr>
              <a:t>Live AI Detection in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FDBA74"/>
                </a:solidFill>
                <a:latin typeface="Segoe UI"/>
              </a:rPr>
              <a:t>Campus reports stay on campus — city reports stay in the city.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128016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0B981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From broken street to fixed — in 5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2212848" cy="3383280"/>
          </a:xfrm>
          <a:prstGeom prst="roundRect">
            <a:avLst>
              <a:gd name="adj" fmla="val 8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4440" y="2606040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290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Spot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828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Choose a category: pothole, garbage, street light, accident…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8064" y="2377440"/>
            <a:ext cx="2212848" cy="3383280"/>
          </a:xfrm>
          <a:prstGeom prst="roundRect">
            <a:avLst>
              <a:gd name="adj" fmla="val 8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75304" y="2606040"/>
            <a:ext cx="658368" cy="6583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5224" y="34290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Snap a photo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0944" y="3931920"/>
            <a:ext cx="1828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Take it on your phone (QR flow) or upload; AI analyses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8928" y="2377440"/>
            <a:ext cx="2212848" cy="3383280"/>
          </a:xfrm>
          <a:prstGeom prst="roundRect">
            <a:avLst>
              <a:gd name="adj" fmla="val 8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16168" y="2606040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34290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Pin the 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3931920"/>
            <a:ext cx="1828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GPS auto-detected (±30 m) or drop a pin; campus detection.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79792" y="2377440"/>
            <a:ext cx="2212848" cy="3383280"/>
          </a:xfrm>
          <a:prstGeom prst="roundRect">
            <a:avLst>
              <a:gd name="adj" fmla="val 8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2606040"/>
            <a:ext cx="658368" cy="6583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34290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Community verifies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2" y="3931920"/>
            <a:ext cx="1828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Neighbours confirm; 3 confirms → Verified.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0656" y="2377440"/>
            <a:ext cx="2212848" cy="3383280"/>
          </a:xfrm>
          <a:prstGeom prst="roundRect">
            <a:avLst>
              <a:gd name="adj" fmla="val 8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97896" y="2606040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57816" y="34290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Authority fixes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3536" y="3931920"/>
            <a:ext cx="1828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Ward/staff dashboard → assigned → resolved → notified.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128016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5B4FC"/>
                </a:solidFill>
                <a:latin typeface="Segoe UI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A complete civic toolkit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697480" cy="1737360"/>
          </a:xfrm>
          <a:prstGeom prst="roundRect">
            <a:avLst>
              <a:gd name="adj" fmla="val 8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6771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E2E8F0"/>
                </a:solidFill>
                <a:latin typeface="Segoe UI"/>
              </a:rPr>
              <a:t>🗺️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304288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Live Interactive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Clustering, heatmap, filters, search, zoom-on-click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03120"/>
            <a:ext cx="2697480" cy="1737360"/>
          </a:xfrm>
          <a:prstGeom prst="roundRect">
            <a:avLst>
              <a:gd name="adj" fmla="val 8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26771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E2E8F0"/>
                </a:solidFill>
                <a:latin typeface="Segoe UI"/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304288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CivicLENS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92608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Real object detection — category, confidence, severity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2697480" cy="1737360"/>
          </a:xfrm>
          <a:prstGeom prst="roundRect">
            <a:avLst>
              <a:gd name="adj" fmla="val 8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26771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E2E8F0"/>
                </a:solidFill>
                <a:latin typeface="Segoe UI"/>
              </a:rPr>
              <a:t>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304288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Live AI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Camera / video / screen → live detection boxes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2103120"/>
            <a:ext cx="2697480" cy="1737360"/>
          </a:xfrm>
          <a:prstGeom prst="roundRect">
            <a:avLst>
              <a:gd name="adj" fmla="val 8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26771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E2E8F0"/>
                </a:solidFill>
                <a:latin typeface="Segoe UI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2304288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Community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92608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Upvote, confirm, reject → Verified 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77639"/>
            <a:ext cx="2697480" cy="1737360"/>
          </a:xfrm>
          <a:prstGeom prst="roundRect">
            <a:avLst>
              <a:gd name="adj" fmla="val 8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142231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E2E8F0"/>
                </a:solidFill>
                <a:latin typeface="Segoe UI"/>
              </a:rP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178807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Reviews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800599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Report threads with agree / disagree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3977639"/>
            <a:ext cx="2697480" cy="1737360"/>
          </a:xfrm>
          <a:prstGeom prst="roundRect">
            <a:avLst>
              <a:gd name="adj" fmla="val 8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4142231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E2E8F0"/>
                </a:solidFill>
                <a:latin typeface="Segoe UI"/>
              </a:rPr>
              <a:t>🏛️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4178807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Authority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800599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KPIs, charts, assign/resolve, ward report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977639"/>
            <a:ext cx="2697480" cy="1737360"/>
          </a:xfrm>
          <a:prstGeom prst="roundRect">
            <a:avLst>
              <a:gd name="adj" fmla="val 8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142231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E2E8F0"/>
                </a:solidFill>
                <a:latin typeface="Segoe UI"/>
              </a:rPr>
              <a:t>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178807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Amrita Eye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800599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Campus theme, categories &amp; routing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06840" y="3977639"/>
            <a:ext cx="2697480" cy="1737360"/>
          </a:xfrm>
          <a:prstGeom prst="roundRect">
            <a:avLst>
              <a:gd name="adj" fmla="val 8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20" y="4142231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E2E8F0"/>
                </a:solidFill>
                <a:latin typeface="Segoe UI"/>
              </a:rPr>
              <a:t>🛡️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4178807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Admin Panel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800599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Moderation, take-downs, scope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128016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0B981"/>
                </a:solidFill>
                <a:latin typeface="Segoe U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Real screenshots of the live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566160" cy="3840480"/>
          </a:xfrm>
          <a:prstGeom prst="roundRect">
            <a:avLst>
              <a:gd name="adj" fmla="val 5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329184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12064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Landing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103120"/>
            <a:ext cx="3566160" cy="3840480"/>
          </a:xfrm>
          <a:prstGeom prst="roundRect">
            <a:avLst>
              <a:gd name="adj" fmla="val 5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40280"/>
            <a:ext cx="329184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34840" y="512064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Interactive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103120"/>
            <a:ext cx="3566160" cy="3840480"/>
          </a:xfrm>
          <a:prstGeom prst="roundRect">
            <a:avLst>
              <a:gd name="adj" fmla="val 5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240280"/>
            <a:ext cx="3291840" cy="274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0" y="512064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Authority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128016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5B4FC"/>
                </a:solidFill>
                <a:latin typeface="Segoe UI"/>
              </a:rPr>
              <a:t>THE PRODUCT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Community, Live AI &amp; more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566160" cy="3840480"/>
          </a:xfrm>
          <a:prstGeom prst="roundRect">
            <a:avLst>
              <a:gd name="adj" fmla="val 5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m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329184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12064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Community Feed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103120"/>
            <a:ext cx="3566160" cy="3840480"/>
          </a:xfrm>
          <a:prstGeom prst="roundRect">
            <a:avLst>
              <a:gd name="adj" fmla="val 5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ive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40280"/>
            <a:ext cx="329184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34840" y="512064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Live AI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103120"/>
            <a:ext cx="3566160" cy="3840480"/>
          </a:xfrm>
          <a:prstGeom prst="roundRect">
            <a:avLst>
              <a:gd name="adj" fmla="val 5000"/>
            </a:avLst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240280"/>
            <a:ext cx="3291840" cy="274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0" y="512064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128016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0B981"/>
                </a:solidFill>
                <a:latin typeface="Segoe UI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Modern, production-grade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109728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240280"/>
            <a:ext cx="7589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2E8F0"/>
                </a:solidFill>
                <a:latin typeface="Segoe UI"/>
              </a:rPr>
              <a:t>React 18 · TypeScript · Vite · TailwindCSS · Framer Motion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907792"/>
            <a:ext cx="109728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0779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Backend &amp;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953512"/>
            <a:ext cx="7589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2E8F0"/>
                </a:solidFill>
                <a:latin typeface="Segoe UI"/>
              </a:rPr>
              <a:t>Supabase — Postgres, Auth, Storage, Row-Level 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21024"/>
            <a:ext cx="109728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21024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666744"/>
            <a:ext cx="7589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2E8F0"/>
                </a:solidFill>
                <a:latin typeface="Segoe UI"/>
              </a:rPr>
              <a:t>CivicLENS (Roboflow) object detection · Groq vision fallback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334256"/>
            <a:ext cx="109728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334256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Maps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379976"/>
            <a:ext cx="7589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2E8F0"/>
                </a:solidFill>
                <a:latin typeface="Segoe UI"/>
              </a:rPr>
              <a:t>Google Maps JS API · Marker clustering · Custom heat overlay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047488"/>
            <a:ext cx="109728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4748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Serverless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093208"/>
            <a:ext cx="7589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2E8F0"/>
                </a:solidFill>
                <a:latin typeface="Segoe UI"/>
              </a:rPr>
              <a:t>Vercel functions · Cloudflare Worker proxy (30s)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760720"/>
            <a:ext cx="109728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7607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806440"/>
            <a:ext cx="7589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2E8F0"/>
                </a:solidFill>
                <a:latin typeface="Segoe UI"/>
              </a:rPr>
              <a:t>nodemailer SMTP gateway · EmailJS fallback · WhatsApp/SMS/mailto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128016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5B4FC"/>
                </a:solidFill>
                <a:latin typeface="Segoe UI"/>
              </a:rPr>
              <a:t>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What’s real, what’s a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120640" cy="3749039"/>
          </a:xfrm>
          <a:prstGeom prst="roundRect">
            <a:avLst>
              <a:gd name="adj" fmla="val 6000"/>
            </a:avLst>
          </a:prstGeom>
          <a:solidFill>
            <a:srgbClr val="064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B981"/>
                </a:solidFill>
                <a:latin typeface="Segoe UI"/>
              </a:rPr>
              <a:t>✅ REAL — works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2E8F0"/>
                </a:solidFill>
                <a:latin typeface="Segoe UI"/>
              </a:rPr>
              <a:t>• Login, reports, votes, confirmations, reviews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2E8F0"/>
                </a:solidFill>
                <a:latin typeface="Segoe UI"/>
              </a:rPr>
              <a:t>• Photo upload to Supabase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2E8F0"/>
                </a:solidFill>
                <a:latin typeface="Segoe UI"/>
              </a:rPr>
              <a:t>• AI photo analysis (real Roboflow inference)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2E8F0"/>
                </a:solidFill>
                <a:latin typeface="Segoe UI"/>
              </a:rPr>
              <a:t>• Report-to-authority escalation (email/WhatsApp/mailto)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7548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2E8F0"/>
                </a:solidFill>
                <a:latin typeface="Segoe UI"/>
              </a:rPr>
              <a:t>• Live AI detection (camera / video / screen)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194560"/>
            <a:ext cx="5303520" cy="3749039"/>
          </a:xfrm>
          <a:prstGeom prst="roundRect">
            <a:avLst>
              <a:gd name="adj" fmla="val 6000"/>
            </a:avLst>
          </a:prstGeom>
          <a:solidFill>
            <a:srgbClr val="422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59E0B"/>
                </a:solidFill>
                <a:latin typeface="Segoe UI"/>
              </a:rPr>
              <a:t>⚠️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EE8D0"/>
                </a:solidFill>
                <a:latin typeface="Segoe UI"/>
              </a:rPr>
              <a:t>• Authority contact data is sample (swap in real)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661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EE8D0"/>
                </a:solidFill>
                <a:latin typeface="Segoe UI"/>
              </a:rPr>
              <a:t>• AI free-tier quotas (~1,000 Roboflow/mo)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062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EE8D0"/>
                </a:solidFill>
                <a:latin typeface="Segoe UI"/>
              </a:rPr>
              <a:t>• New UI coming soon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128016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0B981"/>
                </a:solidFill>
                <a:latin typeface="Segoe UI"/>
              </a:rPr>
              <a:t>IMPACT &amp;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Built for a real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14600"/>
            <a:ext cx="128016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Crowdsourcing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Segoe UI"/>
              </a:rPr>
              <a:t>A shared, verified map is more trusted than scattered complaints.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91840"/>
            <a:ext cx="128016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2461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AI + community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118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Segoe UI"/>
              </a:rPr>
              <a:t>AI speeds reporting; the community keeps it honest.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069080"/>
            <a:ext cx="128016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0233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Born from real life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389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Segoe UI"/>
              </a:rPr>
              <a:t>The “new student in a new city” problem — hostelers learning the city they’ll live in for 4 years.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846320"/>
            <a:ext cx="128016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8006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Visible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1663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Segoe UI"/>
              </a:rPr>
              <a:t>Every report shows its journey: Pending → Verified → In progress → Resolved.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128016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5B4FC"/>
                </a:solidFill>
                <a:latin typeface="Segoe UI"/>
              </a:rPr>
              <a:t>WHAT’S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The roadmap ahead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33172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2E8F0"/>
                </a:solidFill>
                <a:latin typeface="Segoe UI"/>
              </a:rPr>
              <a:t>Push notifications — email / WhatsApp when a report is resolved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898648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85292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2E8F0"/>
                </a:solidFill>
                <a:latin typeface="Segoe UI"/>
              </a:rPr>
              <a:t>Ward-office API integration — automatic ticket creation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465576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419856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2E8F0"/>
                </a:solidFill>
                <a:latin typeface="Segoe UI"/>
              </a:rPr>
              <a:t>Local GPU models (Ollama / fine-tuned YOLO) — unlimited live AI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032504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986784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2E8F0"/>
                </a:solidFill>
                <a:latin typeface="Segoe UI"/>
              </a:rPr>
              <a:t>City-by-city rollout with real authority contacts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599432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55371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2E8F0"/>
                </a:solidFill>
                <a:latin typeface="Segoe UI"/>
              </a:rPr>
              <a:t>Multilingual support — Hindi, Tamil, Malayalam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16636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1206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2E8F0"/>
                </a:solidFill>
                <a:latin typeface="Segoe UI"/>
              </a:rPr>
              <a:t>A brand-new UI (coming soon)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0B11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4572000" cy="4572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 i="0">
                <a:solidFill>
                  <a:srgbClr val="FFFFFF"/>
                </a:solidFill>
                <a:latin typeface="Segoe U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1">
                <a:solidFill>
                  <a:srgbClr val="10B981"/>
                </a:solidFill>
                <a:latin typeface="Segoe UI"/>
              </a:rPr>
              <a:t>Making cities better, one report at a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E2E8F0"/>
                </a:solidFill>
                <a:latin typeface="Segoe UI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4A3B8"/>
                </a:solidFill>
                <a:latin typeface="Segoe UI"/>
              </a:rPr>
              <a:t>Your names · emails · college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